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74332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50B324-5385-8946-4CD8-E27ED952AAB0}" v="68" dt="2026-05-22T11:13:17.8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48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M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7F910-CDD6-461E-97B9-E62E6D1B64DB}" type="datetimeFigureOut">
              <a:rPr lang="fr-MA" smtClean="0"/>
              <a:t>10/06/2026</a:t>
            </a:fld>
            <a:endParaRPr lang="fr-M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M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M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B92341-1B87-4B0A-B2DE-D3285FC73336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654465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1F506-1F5E-1CD9-05E3-413736A91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418DA7-1AC6-96C2-0773-2873E853C1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5F6EA7-86E0-691F-C91E-F355C9982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400" algn="just"/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7CF02-FBE7-EC8D-508C-B0F6978D28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693B3C-D514-4006-BD1B-98B3378341A4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02009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68D8ECF-847C-600C-B60A-93266F4E7F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635269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Diapositive think-cell" r:id="rId4" imgW="247" imgH="248" progId="TCLayout.ActiveDocument.1">
                  <p:embed/>
                </p:oleObj>
              </mc:Choice>
              <mc:Fallback>
                <p:oleObj name="Diapositive think-cell" r:id="rId4" imgW="247" imgH="24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8D8ECF-847C-600C-B60A-93266F4E7F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E3FB42-AB3B-C675-38B8-271925A26C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1637" y="1316765"/>
            <a:ext cx="9131167" cy="48263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77" indent="0">
              <a:buNone/>
              <a:defRPr sz="1600"/>
            </a:lvl2pPr>
            <a:lvl3pPr marL="914353" indent="0">
              <a:buNone/>
              <a:defRPr sz="1600"/>
            </a:lvl3pPr>
            <a:lvl4pPr marL="1371531" indent="0">
              <a:buNone/>
              <a:defRPr sz="1600"/>
            </a:lvl4pPr>
            <a:lvl5pPr marL="1828709" indent="0">
              <a:buNone/>
              <a:defRPr sz="1600"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F279F42-900B-3133-E276-079BDF2BFF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1950" y="419603"/>
            <a:ext cx="11449049" cy="369332"/>
          </a:xfrm>
          <a:prstGeom prst="rect">
            <a:avLst/>
          </a:prstGeom>
        </p:spPr>
        <p:txBody>
          <a:bodyPr vert="horz" lIns="0" tIns="0" rIns="0" bIns="0" anchor="ctr">
            <a:spAutoFit/>
          </a:bodyPr>
          <a:lstStyle>
            <a:lvl1pPr algn="l">
              <a:defRPr sz="2400" b="1" i="0">
                <a:solidFill>
                  <a:srgbClr val="002F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here to add title</a:t>
            </a:r>
            <a:endParaRPr lang="en-US" dirty="0"/>
          </a:p>
        </p:txBody>
      </p:sp>
      <p:sp>
        <p:nvSpPr>
          <p:cNvPr id="7" name="Slide Number Placeholder 12">
            <a:extLst>
              <a:ext uri="{FF2B5EF4-FFF2-40B4-BE49-F238E27FC236}">
                <a16:creationId xmlns:a16="http://schemas.microsoft.com/office/drawing/2014/main" id="{6C71879F-483F-EB0C-8D56-61B28624CC6D}"/>
              </a:ext>
            </a:extLst>
          </p:cNvPr>
          <p:cNvSpPr txBox="1">
            <a:spLocks/>
          </p:cNvSpPr>
          <p:nvPr userDrawn="1"/>
        </p:nvSpPr>
        <p:spPr>
          <a:xfrm>
            <a:off x="107724" y="6350002"/>
            <a:ext cx="736377" cy="35844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z="1000" smtClean="0"/>
              <a:t>‹N°›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026829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.v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06BBE1A-9AA0-242A-A1C2-CBBEF19DD1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635933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Diapositive think-cell" r:id="rId5" imgW="247" imgH="248" progId="TCLayout.ActiveDocument.1">
                  <p:embed/>
                </p:oleObj>
              </mc:Choice>
              <mc:Fallback>
                <p:oleObj name="Diapositive think-cell" r:id="rId5" imgW="247" imgH="24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06BBE1A-9AA0-242A-A1C2-CBBEF19DD1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Google Shape;36;p72"/>
          <p:cNvSpPr txBox="1">
            <a:spLocks noGrp="1"/>
          </p:cNvSpPr>
          <p:nvPr>
            <p:ph type="body"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00783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00783C"/>
              </a:buClr>
              <a:buSzPts val="1800"/>
              <a:buFont typeface="Noto Sans Symbols"/>
              <a:buNone/>
              <a:defRPr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rgbClr val="00783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Clr>
                <a:srgbClr val="00783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Clr>
                <a:srgbClr val="00783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rgbClr val="00783C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rgbClr val="00783C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rgbClr val="00783C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rgbClr val="00783C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0F07D2-F675-A5FD-85E5-F3F9F9D0C546}"/>
              </a:ext>
            </a:extLst>
          </p:cNvPr>
          <p:cNvSpPr/>
          <p:nvPr userDrawn="1"/>
        </p:nvSpPr>
        <p:spPr>
          <a:xfrm rot="10800000">
            <a:off x="10566397" y="6781042"/>
            <a:ext cx="1625603" cy="104561"/>
          </a:xfrm>
          <a:prstGeom prst="rect">
            <a:avLst/>
          </a:prstGeom>
          <a:solidFill>
            <a:srgbClr val="00AD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" b="0" i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4BFDAA-9C00-8AE7-5FC9-A15BA092AA12}"/>
              </a:ext>
            </a:extLst>
          </p:cNvPr>
          <p:cNvSpPr/>
          <p:nvPr userDrawn="1"/>
        </p:nvSpPr>
        <p:spPr>
          <a:xfrm rot="10800000">
            <a:off x="-1" y="6781042"/>
            <a:ext cx="10566396" cy="104562"/>
          </a:xfrm>
          <a:prstGeom prst="rect">
            <a:avLst/>
          </a:prstGeom>
          <a:solidFill>
            <a:srgbClr val="002F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" b="0" i="0"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B630AF-C145-46B2-00C1-0FB3E2EE96AA}"/>
              </a:ext>
            </a:extLst>
          </p:cNvPr>
          <p:cNvSpPr/>
          <p:nvPr userDrawn="1"/>
        </p:nvSpPr>
        <p:spPr>
          <a:xfrm rot="16200000">
            <a:off x="-389717" y="536368"/>
            <a:ext cx="879023" cy="135802"/>
          </a:xfrm>
          <a:prstGeom prst="rect">
            <a:avLst/>
          </a:prstGeom>
          <a:solidFill>
            <a:srgbClr val="002F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" b="0" i="0">
              <a:latin typeface="Arial" panose="020B0604020202020204" pitchFamily="34" charset="0"/>
            </a:endParaRPr>
          </a:p>
        </p:txBody>
      </p:sp>
      <p:sp>
        <p:nvSpPr>
          <p:cNvPr id="5" name="Google Shape;41;p73">
            <a:extLst>
              <a:ext uri="{FF2B5EF4-FFF2-40B4-BE49-F238E27FC236}">
                <a16:creationId xmlns:a16="http://schemas.microsoft.com/office/drawing/2014/main" id="{BC018ADE-8D2A-1CDA-0EC5-7C114AB70069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07724" y="6350002"/>
            <a:ext cx="736377" cy="35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84425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1" u="none" strike="noStrike" cap="none">
          <a:solidFill>
            <a:srgbClr val="000000"/>
          </a:solidFill>
          <a:latin typeface="Times" pitchFamily="2" charset="0"/>
          <a:ea typeface="Times" pitchFamily="2" charset="0"/>
          <a:cs typeface="Arial" panose="020B0604020202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34">
          <p15:clr>
            <a:srgbClr val="F26B43"/>
          </p15:clr>
        </p15:guide>
        <p15:guide id="2" orient="horz" pos="255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4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6AF2C-DD87-3AD1-323C-529603F4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FA61585-C793-F021-4F6C-9D5A4C2C60F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Diapositive think-cell" r:id="rId5" imgW="247" imgH="248" progId="TCLayout.ActiveDocument.1">
                  <p:embed/>
                </p:oleObj>
              </mc:Choice>
              <mc:Fallback>
                <p:oleObj name="Diapositive think-cell" r:id="rId5" imgW="247" imgH="24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A61585-C793-F021-4F6C-9D5A4C2C60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06177C5-C0CC-569B-7E68-F2EF39F7CF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950" y="419603"/>
            <a:ext cx="11449049" cy="369332"/>
          </a:xfrm>
          <a:prstGeom prst="rect">
            <a:avLst/>
          </a:prstGeom>
        </p:spPr>
        <p:txBody>
          <a:bodyPr vert="horz" wrap="square" lIns="0" tIns="0" rIns="0" bIns="0" anchor="ctr">
            <a:spAutoFit/>
          </a:bodyPr>
          <a:lstStyle/>
          <a:p>
            <a:r>
              <a:rPr lang="fr-FR" i="1" dirty="0"/>
              <a:t>Cartographie documentaire du  processus Data Management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8CF3BB91-9E05-5553-0507-390AC3C01EAC}"/>
              </a:ext>
            </a:extLst>
          </p:cNvPr>
          <p:cNvSpPr/>
          <p:nvPr/>
        </p:nvSpPr>
        <p:spPr>
          <a:xfrm>
            <a:off x="1561258" y="1080710"/>
            <a:ext cx="2524125" cy="2039003"/>
          </a:xfrm>
          <a:prstGeom prst="roundRect">
            <a:avLst>
              <a:gd name="adj" fmla="val 655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1100" b="1" i="0" u="none" strike="noStrike" kern="0" cap="none" spc="0" normalizeH="0" baseline="0" noProof="0" dirty="0">
                <a:ln>
                  <a:noFill/>
                </a:ln>
                <a:solidFill>
                  <a:srgbClr val="3434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Data </a:t>
            </a:r>
            <a:r>
              <a:rPr kumimoji="0" lang="fr-FR" sz="1100" b="1" i="0" u="none" strike="noStrike" kern="0" cap="none" spc="0" normalizeH="0" baseline="0" noProof="0" dirty="0" err="1">
                <a:ln>
                  <a:noFill/>
                </a:ln>
                <a:solidFill>
                  <a:srgbClr val="3434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Governance</a:t>
            </a:r>
            <a:endParaRPr kumimoji="0" lang="fr-FR" sz="1100" b="1" i="0" u="none" strike="noStrike" kern="0" cap="none" spc="0" normalizeH="0" baseline="0" noProof="0" dirty="0">
              <a:ln>
                <a:noFill/>
              </a:ln>
              <a:solidFill>
                <a:srgbClr val="343433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15AF63B5-762E-2A9A-55A8-D91F6472C4BA}"/>
              </a:ext>
            </a:extLst>
          </p:cNvPr>
          <p:cNvSpPr/>
          <p:nvPr/>
        </p:nvSpPr>
        <p:spPr>
          <a:xfrm>
            <a:off x="4136650" y="1080712"/>
            <a:ext cx="2524125" cy="2039003"/>
          </a:xfrm>
          <a:prstGeom prst="roundRect">
            <a:avLst>
              <a:gd name="adj" fmla="val 655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1100" b="1" i="0" u="none" strike="noStrike" kern="0" cap="none" spc="0" normalizeH="0" baseline="0" noProof="0" dirty="0">
                <a:ln>
                  <a:noFill/>
                </a:ln>
                <a:solidFill>
                  <a:srgbClr val="3434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Master Data Management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6BAA44A9-E545-6ED8-59C9-4DDBB0B542B1}"/>
              </a:ext>
            </a:extLst>
          </p:cNvPr>
          <p:cNvSpPr/>
          <p:nvPr/>
        </p:nvSpPr>
        <p:spPr>
          <a:xfrm>
            <a:off x="1500468" y="3241203"/>
            <a:ext cx="2524125" cy="2039003"/>
          </a:xfrm>
          <a:prstGeom prst="roundRect">
            <a:avLst>
              <a:gd name="adj" fmla="val 655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1100" b="1" i="0" u="none" strike="noStrike" kern="0" cap="none" spc="0" normalizeH="0" baseline="0" noProof="0" dirty="0">
                <a:ln>
                  <a:noFill/>
                </a:ln>
                <a:solidFill>
                  <a:srgbClr val="3434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Data </a:t>
            </a:r>
            <a:r>
              <a:rPr kumimoji="0" lang="fr-FR" sz="11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3434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Integration</a:t>
            </a:r>
            <a:r>
              <a:rPr kumimoji="0" lang="fr-F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3434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 </a:t>
            </a:r>
            <a:r>
              <a:rPr kumimoji="0" lang="fr-FR" sz="1100" b="1" i="0" u="none" strike="noStrike" kern="0" cap="none" spc="0" normalizeH="0" baseline="0" noProof="0" dirty="0">
                <a:ln>
                  <a:noFill/>
                </a:ln>
                <a:solidFill>
                  <a:srgbClr val="3434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et </a:t>
            </a:r>
            <a:r>
              <a:rPr kumimoji="0" lang="fr-FR" sz="1100" b="1" i="0" u="none" strike="noStrike" kern="0" cap="none" spc="0" normalizeH="0" baseline="0" noProof="0" dirty="0" err="1">
                <a:ln>
                  <a:noFill/>
                </a:ln>
                <a:solidFill>
                  <a:srgbClr val="3434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Interoperability</a:t>
            </a:r>
            <a:endParaRPr kumimoji="0" lang="fr-FR" sz="1100" b="1" i="0" u="none" strike="noStrike" kern="0" cap="none" spc="0" normalizeH="0" baseline="0" noProof="0" dirty="0">
              <a:ln>
                <a:noFill/>
              </a:ln>
              <a:solidFill>
                <a:srgbClr val="343433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681E8482-D528-F6DD-0223-240383599C21}"/>
              </a:ext>
            </a:extLst>
          </p:cNvPr>
          <p:cNvSpPr/>
          <p:nvPr/>
        </p:nvSpPr>
        <p:spPr>
          <a:xfrm>
            <a:off x="6759389" y="3241203"/>
            <a:ext cx="2524125" cy="2039003"/>
          </a:xfrm>
          <a:prstGeom prst="roundRect">
            <a:avLst>
              <a:gd name="adj" fmla="val 655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1100" b="1" i="0" u="none" strike="noStrike" kern="0" cap="none" spc="0" normalizeH="0" baseline="0" noProof="0" dirty="0">
                <a:ln>
                  <a:noFill/>
                </a:ln>
                <a:solidFill>
                  <a:srgbClr val="3434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Data Analytics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7BE106A5-28A5-9AC2-731F-D1FB4B86F91E}"/>
              </a:ext>
            </a:extLst>
          </p:cNvPr>
          <p:cNvSpPr/>
          <p:nvPr/>
        </p:nvSpPr>
        <p:spPr>
          <a:xfrm>
            <a:off x="4136650" y="3241203"/>
            <a:ext cx="2524125" cy="2039003"/>
          </a:xfrm>
          <a:prstGeom prst="roundRect">
            <a:avLst>
              <a:gd name="adj" fmla="val 655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1100" b="1" i="0" u="none" strike="noStrike" kern="0" cap="none" spc="0" normalizeH="0" baseline="0" noProof="0" dirty="0">
                <a:ln>
                  <a:noFill/>
                </a:ln>
                <a:solidFill>
                  <a:srgbClr val="3434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Data </a:t>
            </a:r>
            <a:r>
              <a:rPr lang="fr-FR" sz="1100" b="1" kern="0" dirty="0">
                <a:solidFill>
                  <a:srgbClr val="343433"/>
                </a:solidFill>
                <a:latin typeface="Arial" panose="020B0604020202020204"/>
                <a:sym typeface="Arial"/>
              </a:rPr>
              <a:t>Design et Architecture</a:t>
            </a:r>
            <a:endParaRPr kumimoji="0" lang="fr-FR" sz="1100" b="1" i="0" u="none" strike="noStrike" kern="0" cap="none" spc="0" normalizeH="0" baseline="0" noProof="0" dirty="0">
              <a:ln>
                <a:noFill/>
              </a:ln>
              <a:solidFill>
                <a:srgbClr val="343433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FF874ADB-5786-06CF-2C85-1F29340C0049}"/>
              </a:ext>
            </a:extLst>
          </p:cNvPr>
          <p:cNvSpPr/>
          <p:nvPr/>
        </p:nvSpPr>
        <p:spPr>
          <a:xfrm>
            <a:off x="6759389" y="1080710"/>
            <a:ext cx="2524125" cy="2039003"/>
          </a:xfrm>
          <a:prstGeom prst="roundRect">
            <a:avLst>
              <a:gd name="adj" fmla="val 655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1100" b="1" i="0" u="none" strike="noStrike" kern="0" cap="none" spc="0" normalizeH="0" baseline="0" noProof="0" dirty="0">
                <a:ln>
                  <a:noFill/>
                </a:ln>
                <a:solidFill>
                  <a:srgbClr val="3434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Data </a:t>
            </a:r>
            <a:r>
              <a:rPr kumimoji="0" lang="fr-FR" sz="1100" b="1" i="0" u="none" strike="noStrike" kern="0" cap="none" spc="0" normalizeH="0" baseline="0" noProof="0" dirty="0" err="1">
                <a:ln>
                  <a:noFill/>
                </a:ln>
                <a:solidFill>
                  <a:srgbClr val="3434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Quality</a:t>
            </a:r>
            <a:r>
              <a:rPr kumimoji="0" lang="fr-FR" sz="1100" b="1" i="0" u="none" strike="noStrike" kern="0" cap="none" spc="0" normalizeH="0" baseline="0" noProof="0" dirty="0">
                <a:ln>
                  <a:noFill/>
                </a:ln>
                <a:solidFill>
                  <a:srgbClr val="3434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 Management</a:t>
            </a: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D1129F69-9252-7289-CAA3-643F0B576341}"/>
              </a:ext>
            </a:extLst>
          </p:cNvPr>
          <p:cNvSpPr/>
          <p:nvPr/>
        </p:nvSpPr>
        <p:spPr>
          <a:xfrm>
            <a:off x="1500467" y="5401693"/>
            <a:ext cx="7783047" cy="848897"/>
          </a:xfrm>
          <a:prstGeom prst="roundRect">
            <a:avLst>
              <a:gd name="adj" fmla="val 655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1100" b="1" i="0" u="none" strike="noStrike" kern="0" cap="none" spc="0" normalizeH="0" baseline="0" noProof="0" dirty="0">
                <a:ln>
                  <a:noFill/>
                </a:ln>
                <a:solidFill>
                  <a:srgbClr val="3434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Information Security Management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9489E78-A492-9B19-889E-E916429D74CA}"/>
              </a:ext>
            </a:extLst>
          </p:cNvPr>
          <p:cNvSpPr/>
          <p:nvPr/>
        </p:nvSpPr>
        <p:spPr>
          <a:xfrm>
            <a:off x="4239183" y="1470211"/>
            <a:ext cx="2319059" cy="531048"/>
          </a:xfrm>
          <a:prstGeom prst="rect">
            <a:avLst/>
          </a:prstGeom>
          <a:solidFill>
            <a:srgbClr val="006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Gestion </a:t>
            </a:r>
            <a:r>
              <a:rPr kumimoji="0" lang="fr-FR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du cycle de vie des données maitresses: </a:t>
            </a:r>
            <a:r>
              <a:rPr kumimoji="0" lang="fr-F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Création / Modification / Désactivation / Archivage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9240884-6C22-1AFF-12B1-221A29A578A6}"/>
              </a:ext>
            </a:extLst>
          </p:cNvPr>
          <p:cNvSpPr/>
          <p:nvPr/>
        </p:nvSpPr>
        <p:spPr>
          <a:xfrm>
            <a:off x="1612525" y="1470211"/>
            <a:ext cx="2319059" cy="284163"/>
          </a:xfrm>
          <a:prstGeom prst="rect">
            <a:avLst/>
          </a:prstGeom>
          <a:solidFill>
            <a:srgbClr val="006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Politique &amp; Charte Data </a:t>
            </a:r>
            <a:r>
              <a:rPr kumimoji="0" lang="fr-FR" sz="900" b="0" i="0" u="none" strike="noStrike" kern="0" cap="none" spc="0" normalizeH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gouvernance</a:t>
            </a:r>
            <a:endParaRPr kumimoji="0" lang="fr-FR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4DD1081-B227-5AD9-861B-A277A4F88B0B}"/>
              </a:ext>
            </a:extLst>
          </p:cNvPr>
          <p:cNvSpPr/>
          <p:nvPr/>
        </p:nvSpPr>
        <p:spPr>
          <a:xfrm>
            <a:off x="1602999" y="2247063"/>
            <a:ext cx="2319059" cy="284163"/>
          </a:xfrm>
          <a:prstGeom prst="rect">
            <a:avLst/>
          </a:prstGeom>
          <a:solidFill>
            <a:srgbClr val="006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r>
              <a:rPr lang="fr-MA" sz="900" kern="0" dirty="0">
                <a:solidFill>
                  <a:srgbClr val="FFFFFF"/>
                </a:solidFill>
                <a:latin typeface="Arial" panose="020B0604020202020204"/>
              </a:rPr>
              <a:t>Matrice des </a:t>
            </a:r>
            <a:r>
              <a:rPr lang="fr-MA" sz="900" kern="0" dirty="0" smtClean="0">
                <a:solidFill>
                  <a:srgbClr val="FFFFFF"/>
                </a:solidFill>
                <a:latin typeface="Arial" panose="020B0604020202020204"/>
              </a:rPr>
              <a:t>risques et de conformité</a:t>
            </a:r>
            <a:endParaRPr lang="fr-FR" sz="900" kern="0" dirty="0">
              <a:solidFill>
                <a:srgbClr val="FFFFFF"/>
              </a:solidFill>
              <a:latin typeface="Arial" panose="020B0604020202020204"/>
              <a:sym typeface="Arial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BD39788-487B-AD40-674F-822DC4B319FA}"/>
              </a:ext>
            </a:extLst>
          </p:cNvPr>
          <p:cNvSpPr/>
          <p:nvPr/>
        </p:nvSpPr>
        <p:spPr>
          <a:xfrm>
            <a:off x="1612521" y="1878890"/>
            <a:ext cx="2319059" cy="284163"/>
          </a:xfrm>
          <a:prstGeom prst="rect">
            <a:avLst/>
          </a:prstGeom>
          <a:solidFill>
            <a:srgbClr val="006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Organigramme, Rôles et Responsabilités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E8651BD-92F1-7A14-7A0C-551DD864416E}"/>
              </a:ext>
            </a:extLst>
          </p:cNvPr>
          <p:cNvSpPr/>
          <p:nvPr/>
        </p:nvSpPr>
        <p:spPr>
          <a:xfrm>
            <a:off x="1612521" y="3756999"/>
            <a:ext cx="2319059" cy="284163"/>
          </a:xfrm>
          <a:prstGeom prst="rect">
            <a:avLst/>
          </a:prstGeom>
          <a:solidFill>
            <a:srgbClr val="006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Collecte et ingestion </a:t>
            </a:r>
            <a:r>
              <a:rPr kumimoji="0" lang="fr-F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des données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035D3E4-9164-8EE7-34A8-8B19212EDE28}"/>
              </a:ext>
            </a:extLst>
          </p:cNvPr>
          <p:cNvSpPr/>
          <p:nvPr/>
        </p:nvSpPr>
        <p:spPr>
          <a:xfrm>
            <a:off x="1612521" y="4096465"/>
            <a:ext cx="2319059" cy="284163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Transformation </a:t>
            </a:r>
            <a:r>
              <a:rPr kumimoji="0" lang="fr-FR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, alignement</a:t>
            </a:r>
            <a:r>
              <a:rPr kumimoji="0" lang="fr-FR" sz="900" b="0" i="0" u="none" strike="noStrike" kern="0" cap="none" spc="0" normalizeH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 et transcodage</a:t>
            </a:r>
            <a:endParaRPr kumimoji="0" lang="fr-FR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43DAF47-ECBF-E35F-F570-9829A335ADD1}"/>
              </a:ext>
            </a:extLst>
          </p:cNvPr>
          <p:cNvSpPr/>
          <p:nvPr/>
        </p:nvSpPr>
        <p:spPr>
          <a:xfrm>
            <a:off x="1612521" y="4453661"/>
            <a:ext cx="2319059" cy="284163"/>
          </a:xfrm>
          <a:prstGeom prst="rect">
            <a:avLst/>
          </a:prstGeom>
          <a:solidFill>
            <a:srgbClr val="006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r>
              <a:rPr lang="fr-FR" sz="900" kern="0" dirty="0">
                <a:solidFill>
                  <a:srgbClr val="FFFFFF"/>
                </a:solidFill>
                <a:latin typeface="Arial" panose="020B0604020202020204"/>
                <a:sym typeface="Arial"/>
              </a:rPr>
              <a:t>Diffusion des données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A4C4623-A750-1CCF-C89B-2501FD15C60A}"/>
              </a:ext>
            </a:extLst>
          </p:cNvPr>
          <p:cNvSpPr/>
          <p:nvPr/>
        </p:nvSpPr>
        <p:spPr>
          <a:xfrm>
            <a:off x="4248707" y="3606663"/>
            <a:ext cx="2319059" cy="284163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Modélisation &amp; Data Solution Design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79C395C-435F-447C-0FC2-8A968C8244FB}"/>
              </a:ext>
            </a:extLst>
          </p:cNvPr>
          <p:cNvSpPr/>
          <p:nvPr/>
        </p:nvSpPr>
        <p:spPr>
          <a:xfrm>
            <a:off x="4248707" y="4482667"/>
            <a:ext cx="2319059" cy="284163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Dictionnaire de données et métadonnées</a:t>
            </a:r>
            <a:endParaRPr kumimoji="0" lang="fr-FR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BF9B295-3E2F-33A0-C28F-CEB2A8399BCF}"/>
              </a:ext>
            </a:extLst>
          </p:cNvPr>
          <p:cNvSpPr/>
          <p:nvPr/>
        </p:nvSpPr>
        <p:spPr>
          <a:xfrm>
            <a:off x="1603000" y="5765933"/>
            <a:ext cx="2319059" cy="284163"/>
          </a:xfrm>
          <a:prstGeom prst="rect">
            <a:avLst/>
          </a:prstGeom>
          <a:solidFill>
            <a:srgbClr val="006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r>
              <a:rPr lang="fr-FR" sz="900" kern="0" dirty="0">
                <a:solidFill>
                  <a:srgbClr val="FFFFFF"/>
                </a:solidFill>
                <a:latin typeface="Arial" panose="020B0604020202020204"/>
                <a:sym typeface="Arial"/>
              </a:rPr>
              <a:t>Gestion de la Politique de Sécurité Data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A8ED7D3-6347-3942-8957-BEBA6695AA7B}"/>
              </a:ext>
            </a:extLst>
          </p:cNvPr>
          <p:cNvSpPr/>
          <p:nvPr/>
        </p:nvSpPr>
        <p:spPr>
          <a:xfrm>
            <a:off x="4227700" y="5765933"/>
            <a:ext cx="2319059" cy="284163"/>
          </a:xfrm>
          <a:prstGeom prst="rect">
            <a:avLst/>
          </a:prstGeom>
          <a:solidFill>
            <a:srgbClr val="006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r>
              <a:rPr lang="fr-FR" sz="900" kern="0" dirty="0">
                <a:solidFill>
                  <a:srgbClr val="FFFFFF"/>
                </a:solidFill>
                <a:latin typeface="Arial" panose="020B0604020202020204"/>
                <a:sym typeface="Arial"/>
              </a:rPr>
              <a:t>Protection des données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58A20AF-C9E9-03D0-3464-77A49A639B44}"/>
              </a:ext>
            </a:extLst>
          </p:cNvPr>
          <p:cNvSpPr/>
          <p:nvPr/>
        </p:nvSpPr>
        <p:spPr>
          <a:xfrm>
            <a:off x="6852399" y="5765933"/>
            <a:ext cx="2319059" cy="284163"/>
          </a:xfrm>
          <a:prstGeom prst="rect">
            <a:avLst/>
          </a:prstGeom>
          <a:solidFill>
            <a:srgbClr val="006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r>
              <a:rPr lang="fr-FR" sz="900" kern="0" dirty="0">
                <a:solidFill>
                  <a:srgbClr val="FFFFFF"/>
                </a:solidFill>
                <a:latin typeface="Arial" panose="020B0604020202020204"/>
                <a:sym typeface="Arial"/>
              </a:rPr>
              <a:t>Gestion des accès aux données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82B2953-9B4D-A703-500B-7254B322BE40}"/>
              </a:ext>
            </a:extLst>
          </p:cNvPr>
          <p:cNvSpPr/>
          <p:nvPr/>
        </p:nvSpPr>
        <p:spPr>
          <a:xfrm>
            <a:off x="6852391" y="2212912"/>
            <a:ext cx="2319059" cy="284163"/>
          </a:xfrm>
          <a:prstGeom prst="rect">
            <a:avLst/>
          </a:prstGeom>
          <a:solidFill>
            <a:srgbClr val="006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Procédure de gestion</a:t>
            </a:r>
            <a:r>
              <a:rPr kumimoji="0" lang="fr-FR" sz="900" b="0" i="0" u="none" strike="noStrike" kern="0" cap="none" spc="0" normalizeH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 et d’escalade des incidents qualité</a:t>
            </a:r>
            <a:endParaRPr kumimoji="0" lang="fr-FR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04848B2-F96B-D26A-A9B9-11E7047A5498}"/>
              </a:ext>
            </a:extLst>
          </p:cNvPr>
          <p:cNvSpPr/>
          <p:nvPr/>
        </p:nvSpPr>
        <p:spPr>
          <a:xfrm>
            <a:off x="6858003" y="3628978"/>
            <a:ext cx="2319059" cy="412184"/>
          </a:xfrm>
          <a:prstGeom prst="rect">
            <a:avLst/>
          </a:prstGeom>
          <a:solidFill>
            <a:srgbClr val="006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r>
              <a:rPr lang="fr-FR" sz="900" kern="0" dirty="0">
                <a:solidFill>
                  <a:srgbClr val="FFFFFF"/>
                </a:solidFill>
                <a:sym typeface="Arial"/>
              </a:rPr>
              <a:t>Data </a:t>
            </a:r>
            <a:r>
              <a:rPr lang="fr-FR" sz="900" kern="0" dirty="0" err="1" smtClean="0">
                <a:solidFill>
                  <a:srgbClr val="FFFFFF"/>
                </a:solidFill>
                <a:sym typeface="Arial"/>
              </a:rPr>
              <a:t>Vizualisation</a:t>
            </a:r>
            <a:r>
              <a:rPr lang="fr-FR" sz="900" kern="0" dirty="0" smtClean="0">
                <a:solidFill>
                  <a:srgbClr val="FFFFFF"/>
                </a:solidFill>
                <a:sym typeface="Arial"/>
              </a:rPr>
              <a:t> /</a:t>
            </a:r>
            <a:endParaRPr lang="fr-FR" sz="900" kern="0" dirty="0">
              <a:solidFill>
                <a:srgbClr val="FFFFFF"/>
              </a:solidFill>
              <a:sym typeface="Arial"/>
            </a:endParaRPr>
          </a:p>
          <a:p>
            <a:pPr algn="ctr">
              <a:buClr>
                <a:srgbClr val="000000"/>
              </a:buClr>
            </a:pPr>
            <a:r>
              <a:rPr lang="fr-FR" sz="900" kern="0" dirty="0" smtClean="0">
                <a:solidFill>
                  <a:srgbClr val="FFFFFF"/>
                </a:solidFill>
                <a:latin typeface="Arial" panose="020B0604020202020204"/>
                <a:sym typeface="Arial"/>
              </a:rPr>
              <a:t>Gestion </a:t>
            </a:r>
            <a:r>
              <a:rPr lang="fr-FR" sz="900" kern="0" dirty="0">
                <a:solidFill>
                  <a:srgbClr val="FFFFFF"/>
                </a:solidFill>
                <a:latin typeface="Arial" panose="020B0604020202020204"/>
                <a:sym typeface="Arial"/>
              </a:rPr>
              <a:t>des </a:t>
            </a:r>
            <a:r>
              <a:rPr lang="fr-FR" sz="900" kern="0" dirty="0" err="1">
                <a:solidFill>
                  <a:srgbClr val="FFFFFF"/>
                </a:solidFill>
                <a:latin typeface="Arial" panose="020B0604020202020204"/>
                <a:sym typeface="Arial"/>
              </a:rPr>
              <a:t>Reportings</a:t>
            </a:r>
            <a:endParaRPr lang="fr-FR" sz="900" kern="0" dirty="0">
              <a:solidFill>
                <a:srgbClr val="FFFFFF"/>
              </a:solidFill>
              <a:latin typeface="Arial" panose="020B0604020202020204"/>
              <a:sym typeface="Arial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7E045BD-8886-486B-AE6A-783DF1CF2DB2}"/>
              </a:ext>
            </a:extLst>
          </p:cNvPr>
          <p:cNvSpPr/>
          <p:nvPr/>
        </p:nvSpPr>
        <p:spPr>
          <a:xfrm>
            <a:off x="6852390" y="4191241"/>
            <a:ext cx="2319059" cy="284163"/>
          </a:xfrm>
          <a:prstGeom prst="rect">
            <a:avLst/>
          </a:prstGeom>
          <a:solidFill>
            <a:srgbClr val="006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r>
              <a:rPr lang="fr-FR" sz="900" kern="0" dirty="0" smtClean="0">
                <a:solidFill>
                  <a:srgbClr val="FFFFFF"/>
                </a:solidFill>
                <a:latin typeface="Arial" panose="020B0604020202020204"/>
                <a:sym typeface="Arial"/>
              </a:rPr>
              <a:t>Modélisation et Gestion </a:t>
            </a:r>
            <a:r>
              <a:rPr lang="fr-FR" sz="900" kern="0" dirty="0">
                <a:solidFill>
                  <a:srgbClr val="FFFFFF"/>
                </a:solidFill>
                <a:latin typeface="Arial" panose="020B0604020202020204"/>
                <a:sym typeface="Arial"/>
              </a:rPr>
              <a:t>du Data Store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882C312-1E08-2203-44CD-2380F7A475D9}"/>
              </a:ext>
            </a:extLst>
          </p:cNvPr>
          <p:cNvSpPr/>
          <p:nvPr/>
        </p:nvSpPr>
        <p:spPr>
          <a:xfrm>
            <a:off x="6852389" y="4615205"/>
            <a:ext cx="2319059" cy="284163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Analyses Prédictives des données</a:t>
            </a:r>
          </a:p>
        </p:txBody>
      </p:sp>
      <p:graphicFrame>
        <p:nvGraphicFramePr>
          <p:cNvPr id="75" name="Tableau 74">
            <a:extLst>
              <a:ext uri="{FF2B5EF4-FFF2-40B4-BE49-F238E27FC236}">
                <a16:creationId xmlns:a16="http://schemas.microsoft.com/office/drawing/2014/main" id="{DCA08721-224E-DCB9-D43C-E73ACE879F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641799"/>
              </p:ext>
            </p:extLst>
          </p:nvPr>
        </p:nvGraphicFramePr>
        <p:xfrm>
          <a:off x="9550774" y="6056952"/>
          <a:ext cx="2574131" cy="57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588">
                  <a:extLst>
                    <a:ext uri="{9D8B030D-6E8A-4147-A177-3AD203B41FA5}">
                      <a16:colId xmlns:a16="http://schemas.microsoft.com/office/drawing/2014/main" val="471894887"/>
                    </a:ext>
                  </a:extLst>
                </a:gridCol>
                <a:gridCol w="2203543">
                  <a:extLst>
                    <a:ext uri="{9D8B030D-6E8A-4147-A177-3AD203B41FA5}">
                      <a16:colId xmlns:a16="http://schemas.microsoft.com/office/drawing/2014/main" val="17897800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fr-FR" sz="800" dirty="0"/>
                    </a:p>
                  </a:txBody>
                  <a:tcPr>
                    <a:solidFill>
                      <a:srgbClr val="006C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Processus couvert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117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4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866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dirty="0"/>
                    </a:p>
                  </a:txBody>
                  <a:tcPr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Processus non couvert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836492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169B3C70-74AC-561B-17C1-E20E0D55B184}"/>
              </a:ext>
            </a:extLst>
          </p:cNvPr>
          <p:cNvSpPr/>
          <p:nvPr/>
        </p:nvSpPr>
        <p:spPr>
          <a:xfrm>
            <a:off x="4239183" y="3951316"/>
            <a:ext cx="2319059" cy="455728"/>
          </a:xfrm>
          <a:prstGeom prst="rect">
            <a:avLst/>
          </a:prstGeom>
          <a:solidFill>
            <a:srgbClr val="006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buClr>
                <a:srgbClr val="000000"/>
              </a:buClr>
              <a:defRPr/>
            </a:pPr>
            <a:r>
              <a:rPr lang="fr-FR" sz="900" kern="0" dirty="0">
                <a:solidFill>
                  <a:srgbClr val="FFFFFF"/>
                </a:solidFill>
                <a:sym typeface="Arial"/>
              </a:rPr>
              <a:t>Règles de codification / Règles de nommage </a:t>
            </a:r>
            <a:endParaRPr kumimoji="0" lang="fr-FR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8C058E-FAAF-1020-7B98-8B88DE23B800}"/>
              </a:ext>
            </a:extLst>
          </p:cNvPr>
          <p:cNvSpPr/>
          <p:nvPr/>
        </p:nvSpPr>
        <p:spPr>
          <a:xfrm>
            <a:off x="6852395" y="1487300"/>
            <a:ext cx="2319059" cy="284163"/>
          </a:xfrm>
          <a:prstGeom prst="rect">
            <a:avLst/>
          </a:prstGeom>
          <a:solidFill>
            <a:srgbClr val="006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buClr>
                <a:srgbClr val="000000"/>
              </a:buClr>
              <a:defRPr/>
            </a:pPr>
            <a:r>
              <a:rPr lang="fr-FR" sz="900" dirty="0" smtClean="0"/>
              <a:t>Standards &amp; règles de qualité des données</a:t>
            </a:r>
            <a:endParaRPr kumimoji="0" lang="fr-FR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41FA74-53F1-E2CD-B67D-36FD17104217}"/>
              </a:ext>
            </a:extLst>
          </p:cNvPr>
          <p:cNvSpPr/>
          <p:nvPr/>
        </p:nvSpPr>
        <p:spPr>
          <a:xfrm>
            <a:off x="6852392" y="1857345"/>
            <a:ext cx="2319059" cy="284163"/>
          </a:xfrm>
          <a:prstGeom prst="rect">
            <a:avLst/>
          </a:prstGeom>
          <a:solidFill>
            <a:srgbClr val="006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buClr>
                <a:srgbClr val="000000"/>
              </a:buClr>
              <a:defRPr/>
            </a:pPr>
            <a:r>
              <a:rPr lang="fr-FR" sz="900" dirty="0" smtClean="0"/>
              <a:t>Profilage et Monitoring de la qualité </a:t>
            </a:r>
            <a:r>
              <a:rPr lang="fr-FR" sz="900" dirty="0"/>
              <a:t>&amp; KPI</a:t>
            </a:r>
            <a:endParaRPr kumimoji="0" lang="fr-FR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DC6594-02E2-79FE-EC1C-CF53B71666B8}"/>
              </a:ext>
            </a:extLst>
          </p:cNvPr>
          <p:cNvSpPr/>
          <p:nvPr/>
        </p:nvSpPr>
        <p:spPr>
          <a:xfrm>
            <a:off x="4239743" y="4860382"/>
            <a:ext cx="2319059" cy="27068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r>
              <a:rPr lang="fr-MA" sz="900" dirty="0"/>
              <a:t>Carto des </a:t>
            </a:r>
            <a:r>
              <a:rPr lang="fr-MA" sz="900" dirty="0" smtClean="0"/>
              <a:t>flux et lignage des données</a:t>
            </a:r>
            <a:endParaRPr lang="fr-FR" sz="900" kern="0" dirty="0">
              <a:solidFill>
                <a:srgbClr val="FFFFFF"/>
              </a:solidFill>
              <a:latin typeface="Arial" panose="020B0604020202020204"/>
              <a:sym typeface="Arial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9489E78-A492-9B19-889E-E916429D74CA}"/>
              </a:ext>
            </a:extLst>
          </p:cNvPr>
          <p:cNvSpPr/>
          <p:nvPr/>
        </p:nvSpPr>
        <p:spPr>
          <a:xfrm>
            <a:off x="4227697" y="2058047"/>
            <a:ext cx="2319059" cy="306233"/>
          </a:xfrm>
          <a:prstGeom prst="rect">
            <a:avLst/>
          </a:prstGeom>
          <a:solidFill>
            <a:srgbClr val="006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Processus de déduplication (match et </a:t>
            </a:r>
            <a:r>
              <a:rPr kumimoji="0" lang="fr-FR" sz="9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merge</a:t>
            </a:r>
            <a:r>
              <a:rPr kumimoji="0" lang="fr-FR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)</a:t>
            </a:r>
            <a:endParaRPr kumimoji="0" lang="fr-FR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9489E78-A492-9B19-889E-E916429D74CA}"/>
              </a:ext>
            </a:extLst>
          </p:cNvPr>
          <p:cNvSpPr/>
          <p:nvPr/>
        </p:nvSpPr>
        <p:spPr>
          <a:xfrm>
            <a:off x="4227697" y="2405372"/>
            <a:ext cx="2319059" cy="306233"/>
          </a:xfrm>
          <a:prstGeom prst="rect">
            <a:avLst/>
          </a:prstGeom>
          <a:solidFill>
            <a:srgbClr val="006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Gestion des données de référence</a:t>
            </a:r>
            <a:endParaRPr kumimoji="0" lang="fr-FR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82B2953-9B4D-A703-500B-7254B322BE40}"/>
              </a:ext>
            </a:extLst>
          </p:cNvPr>
          <p:cNvSpPr/>
          <p:nvPr/>
        </p:nvSpPr>
        <p:spPr>
          <a:xfrm>
            <a:off x="6852388" y="2579419"/>
            <a:ext cx="2319059" cy="284163"/>
          </a:xfrm>
          <a:prstGeom prst="rect">
            <a:avLst/>
          </a:prstGeom>
          <a:solidFill>
            <a:srgbClr val="006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Data </a:t>
            </a:r>
            <a:r>
              <a:rPr kumimoji="0" lang="fr-FR" sz="9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Cleansing</a:t>
            </a:r>
            <a:r>
              <a:rPr kumimoji="0" lang="fr-F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 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43DAF47-ECBF-E35F-F570-9829A335ADD1}"/>
              </a:ext>
            </a:extLst>
          </p:cNvPr>
          <p:cNvSpPr/>
          <p:nvPr/>
        </p:nvSpPr>
        <p:spPr>
          <a:xfrm>
            <a:off x="1612521" y="4802116"/>
            <a:ext cx="2319059" cy="28416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r>
              <a:rPr lang="fr-FR" sz="900" kern="0" dirty="0" smtClean="0">
                <a:solidFill>
                  <a:srgbClr val="FFFFFF"/>
                </a:solidFill>
                <a:latin typeface="Arial" panose="020B0604020202020204"/>
                <a:sym typeface="Arial"/>
              </a:rPr>
              <a:t>Gestion des flux d’intégrations</a:t>
            </a:r>
            <a:endParaRPr lang="fr-FR" sz="900" kern="0" dirty="0">
              <a:solidFill>
                <a:srgbClr val="FFFFFF"/>
              </a:solidFill>
              <a:latin typeface="Arial" panose="020B0604020202020204"/>
              <a:sym typeface="Arial"/>
            </a:endParaRPr>
          </a:p>
        </p:txBody>
      </p:sp>
      <p:sp>
        <p:nvSpPr>
          <p:cNvPr id="44" name="Rectangle : coins arrondis 9">
            <a:extLst>
              <a:ext uri="{FF2B5EF4-FFF2-40B4-BE49-F238E27FC236}">
                <a16:creationId xmlns:a16="http://schemas.microsoft.com/office/drawing/2014/main" id="{8CF3BB91-9E05-5553-0507-390AC3C01EAC}"/>
              </a:ext>
            </a:extLst>
          </p:cNvPr>
          <p:cNvSpPr/>
          <p:nvPr/>
        </p:nvSpPr>
        <p:spPr>
          <a:xfrm>
            <a:off x="9401711" y="419603"/>
            <a:ext cx="2623167" cy="400283"/>
          </a:xfrm>
          <a:prstGeom prst="roundRect">
            <a:avLst>
              <a:gd name="adj" fmla="val 655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algn="ctr">
              <a:buClr>
                <a:srgbClr val="000000"/>
              </a:buClr>
              <a:defRPr/>
            </a:pPr>
            <a:r>
              <a:rPr lang="fr-MA" sz="1100" b="1" dirty="0">
                <a:solidFill>
                  <a:schemeClr val="tx1"/>
                </a:solidFill>
              </a:rPr>
              <a:t>Fiche d’identité du processus dans le SMI </a:t>
            </a:r>
            <a:endParaRPr lang="fr-FR" sz="1100" b="1" kern="0" dirty="0">
              <a:solidFill>
                <a:schemeClr val="tx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89742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FC Fixed Logo">
  <a:themeElements>
    <a:clrScheme name="IFC STANDARD THEME">
      <a:dk1>
        <a:srgbClr val="343433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00273F"/>
      </a:accent2>
      <a:accent3>
        <a:srgbClr val="A5A5A5"/>
      </a:accent3>
      <a:accent4>
        <a:srgbClr val="FFC000"/>
      </a:accent4>
      <a:accent5>
        <a:srgbClr val="4C868E"/>
      </a:accent5>
      <a:accent6>
        <a:srgbClr val="006C5B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696</TotalTime>
  <Words>182</Words>
  <Application>Microsoft Office PowerPoint</Application>
  <PresentationFormat>Grand écran</PresentationFormat>
  <Paragraphs>37</Paragraphs>
  <Slides>1</Slides>
  <Notes>1</Notes>
  <HiddenSlides>0</HiddenSlides>
  <MMClips>0</MMClips>
  <ScaleCrop>false</ScaleCrop>
  <HeadingPairs>
    <vt:vector size="8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Arial</vt:lpstr>
      <vt:lpstr>Calibri</vt:lpstr>
      <vt:lpstr>Noto Sans Symbols</vt:lpstr>
      <vt:lpstr>Times</vt:lpstr>
      <vt:lpstr>IFC Fixed Logo</vt:lpstr>
      <vt:lpstr>Diapositive think-cell</vt:lpstr>
      <vt:lpstr>Cartographie documentaire du  processus Data Management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Cartographie documentaire du  processus Data Management</dc:title>
  <dc:creator>Younes Bennani</dc:creator>
  <cp:lastModifiedBy>Yassir EL ASRY</cp:lastModifiedBy>
  <cp:revision>23</cp:revision>
  <dcterms:created xsi:type="dcterms:W3CDTF">2026-05-21T17:42:58Z</dcterms:created>
  <dcterms:modified xsi:type="dcterms:W3CDTF">2026-06-10T11:40:33Z</dcterms:modified>
</cp:coreProperties>
</file>